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sv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sv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sv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sv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sv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sv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sv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Integration &amp; Microservices Platform</a:t>
            </a:r>
          </a:p>
        </p:txBody>
      </p:sp>
      <p:pic>
        <p:nvPicPr>
          <p:cNvPr descr="microservices-platform-slide-deck-assets/slide01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2641600"/>
            <a:ext cx="4038600" cy="48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Challenge</a:t>
            </a:r>
          </a:p>
        </p:txBody>
      </p:sp>
      <p:pic>
        <p:nvPicPr>
          <p:cNvPr descr="microservices-platform-slide-deck-assets/slide02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463800"/>
            <a:ext cx="4038600" cy="85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integration projects are slow, expensive, and fragile. Whether building microservices, connecting applications, or transforming data — teams spend more time on handoffs than on building.</a:t>
            </a:r>
          </a:p>
          <a:p>
            <a:pPr lvl="0"/>
            <a:r>
              <a:rPr/>
              <a:t>60% time spent on handoffs</a:t>
            </a:r>
          </a:p>
          <a:p>
            <a:pPr lvl="0"/>
            <a:r>
              <a:rPr/>
              <a:t>3x rework cycles per flow</a:t>
            </a:r>
          </a:p>
          <a:p>
            <a:pPr lvl="0"/>
            <a:r>
              <a:rPr/>
              <a:t>$2M+ average cost per integration project</a:t>
            </a:r>
          </a:p>
          <a:p>
            <a:pPr lvl="0"/>
            <a:r>
              <a:rPr/>
              <a:t>0 visibility for compliance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BiTool: One Platform, Three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visual, no-code platform that eliminates the gap between what business wants and what engineering delivers.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Microservices</a:t>
            </a:r>
          </a:p>
          <a:p>
            <a:pPr lvl="0" indent="0" marL="0">
              <a:buNone/>
            </a:pPr>
            <a:r>
              <a:rPr/>
              <a:t>Builder + Orchestrator</a:t>
            </a:r>
          </a:p>
          <a:p>
            <a:pPr lvl="0"/>
            <a:r>
              <a:rPr/>
              <a:t>Design APIs visually as flow models</a:t>
            </a:r>
          </a:p>
          <a:p>
            <a:pPr lvl="0"/>
            <a:r>
              <a:rPr/>
              <a:t>Auto-generate from OpenAPI specs</a:t>
            </a:r>
          </a:p>
          <a:p>
            <a:pPr lvl="0"/>
            <a:r>
              <a:rPr/>
              <a:t>Hot deploy to production</a:t>
            </a:r>
          </a:p>
          <a:p>
            <a:pPr lvl="0"/>
            <a:r>
              <a:rPr/>
              <a:t>Canary releases, instant rollback</a:t>
            </a:r>
          </a:p>
          <a:p>
            <a:pPr lvl="0"/>
            <a:r>
              <a:rPr/>
              <a:t>Built-in auth, validation, caching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EAI</a:t>
            </a:r>
          </a:p>
          <a:p>
            <a:pPr lvl="0" indent="0" marL="0">
              <a:buNone/>
            </a:pPr>
            <a:r>
              <a:rPr/>
              <a:t>Enterprise Application Integration</a:t>
            </a:r>
          </a:p>
          <a:p>
            <a:pPr lvl="0"/>
            <a:r>
              <a:rPr/>
              <a:t>Connect any system to any system</a:t>
            </a:r>
          </a:p>
          <a:p>
            <a:pPr lvl="0"/>
            <a:r>
              <a:rPr/>
              <a:t>REST, SOAP, JDBC, MQ, File</a:t>
            </a:r>
          </a:p>
          <a:p>
            <a:pPr lvl="0"/>
            <a:r>
              <a:rPr/>
              <a:t>Message transformation &amp; routing</a:t>
            </a:r>
          </a:p>
          <a:p>
            <a:pPr lvl="0"/>
            <a:r>
              <a:rPr/>
              <a:t>Event-driven or request-driven</a:t>
            </a:r>
          </a:p>
          <a:p>
            <a:pPr lvl="0"/>
            <a:r>
              <a:rPr/>
              <a:t>Pre-built connectors library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ELT / ETL</a:t>
            </a:r>
          </a:p>
          <a:p>
            <a:pPr lvl="0" indent="0" marL="0">
              <a:buNone/>
            </a:pPr>
            <a:r>
              <a:rPr/>
              <a:t>Data Transformation</a:t>
            </a:r>
          </a:p>
          <a:p>
            <a:pPr lvl="0"/>
            <a:r>
              <a:rPr/>
              <a:t>Extract from any source</a:t>
            </a:r>
          </a:p>
          <a:p>
            <a:pPr lvl="0"/>
            <a:r>
              <a:rPr/>
              <a:t>Visual transformation design</a:t>
            </a:r>
          </a:p>
          <a:p>
            <a:pPr lvl="0"/>
            <a:r>
              <a:rPr/>
              <a:t>Load to any destination</a:t>
            </a:r>
          </a:p>
          <a:p>
            <a:pPr lvl="0"/>
            <a:r>
              <a:rPr/>
              <a:t>Scheduled or event-triggered</a:t>
            </a:r>
          </a:p>
          <a:p>
            <a:pPr lvl="0"/>
            <a:r>
              <a:rPr/>
              <a:t>Join, filter, aggregate, enrich</a:t>
            </a:r>
          </a:p>
          <a:p>
            <a:pPr lvl="0" indent="0" marL="0">
              <a:buNone/>
            </a:pPr>
            <a:r>
              <a:rPr/>
              <a:t>One visual model serves as Design, Code, Documentation, and Audit Trail</a:t>
            </a:r>
          </a:p>
          <a:p>
            <a:pPr lvl="0" indent="0" marL="0">
              <a:buNone/>
            </a:pPr>
            <a:r>
              <a:rPr/>
              <a:t>What you see on screen IS what runs in production. No translation steps.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It Works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Users visually compose integration flows by connecting processing blocks on a canvas. The platform executes these flows as production services.</a:t>
            </a:r>
          </a:p>
        </p:txBody>
      </p:sp>
      <p:pic>
        <p:nvPicPr>
          <p:cNvPr descr="microservices-platform-slide-deck-assets/slide04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AI-Accelerated: BRD to Production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generates each artifact deterministically. Humans review and approve at every gate. The result is auditable, repeatable, and fast.</a:t>
            </a:r>
          </a:p>
        </p:txBody>
      </p:sp>
      <p:pic>
        <p:nvPicPr>
          <p:cNvPr descr="microservices-platform-slide-deck-assets/slide05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Microservices: Build &amp; Deploy APIs Visually</a:t>
            </a:r>
          </a:p>
        </p:txBody>
      </p:sp>
      <p:pic>
        <p:nvPicPr>
          <p:cNvPr descr="microservices-platform-slide-deck-assets/slide06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49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complete REST APIs as visual models. Each model becomes a live HTTP microservice with built-in security, validation, and data access.</a:t>
            </a:r>
          </a:p>
          <a:p>
            <a:pPr lvl="0"/>
            <a:r>
              <a:rPr b="1"/>
              <a:t>Auto-generate from OpenAPI:</a:t>
            </a:r>
            <a:r>
              <a:rPr/>
              <a:t> Import Swagger/OpenAPI and generate the service model in minutes.</a:t>
            </a:r>
          </a:p>
          <a:p>
            <a:pPr lvl="0"/>
            <a:r>
              <a:rPr b="1"/>
              <a:t>Production-ready runtime:</a:t>
            </a:r>
            <a:r>
              <a:rPr/>
              <a:t> Kubernetes-native, tracing, circuit breakers, and rate limiting built in.</a:t>
            </a:r>
          </a:p>
          <a:p>
            <a:pPr lvl="0"/>
            <a:r>
              <a:rPr b="1"/>
              <a:t>Country-specific extensions:</a:t>
            </a:r>
            <a:r>
              <a:rPr/>
              <a:t> Add regulatory blocks without modifying the platform.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EAI: Connect Any System to Any System</a:t>
            </a:r>
          </a:p>
        </p:txBody>
      </p:sp>
      <p:pic>
        <p:nvPicPr>
          <p:cNvPr descr="microservices-platform-slide-deck-assets/slide07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49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Application Integration as visual models. Connect databases, APIs, message queues, file systems, and legacy applications through a unified design canvas.</a:t>
            </a:r>
          </a:p>
          <a:p>
            <a:pPr lvl="0"/>
            <a:r>
              <a:rPr b="1"/>
              <a:t>Any-to-any connectivity:</a:t>
            </a:r>
            <a:r>
              <a:rPr/>
              <a:t> REST, SOAP, JDBC, Kafka/RabbitMQ, SFTP/files, and extensible connectors.</a:t>
            </a:r>
          </a:p>
          <a:p>
            <a:pPr lvl="0"/>
            <a:r>
              <a:rPr b="1"/>
              <a:t>Message transformation:</a:t>
            </a:r>
            <a:r>
              <a:rPr/>
              <a:t> Map/convert/enrich JSON, XML, CSV, ISO 20022 across systems.</a:t>
            </a:r>
          </a:p>
          <a:p>
            <a:pPr lvl="0"/>
            <a:r>
              <a:rPr b="1"/>
              <a:t>Routing patterns:</a:t>
            </a:r>
            <a:r>
              <a:rPr/>
              <a:t> Content-based routing, split/aggregate/multicast out of the box.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ELT / ETL: Visual Data Transformation</a:t>
            </a:r>
          </a:p>
        </p:txBody>
      </p:sp>
      <p:pic>
        <p:nvPicPr>
          <p:cNvPr descr="microservices-platform-slide-deck-assets/slide08-fig01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49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data pipelines visually — extract from any source, transform with joins, filters, and aggregations, load to any destination. Schedule or trigger on events.</a:t>
            </a:r>
          </a:p>
          <a:p>
            <a:pPr lvl="0"/>
            <a:r>
              <a:rPr b="1"/>
              <a:t>Visual transformations:</a:t>
            </a:r>
            <a:r>
              <a:rPr/>
              <a:t> Join, filter, aggregate, rename, and apply functions via drag-and-drop.</a:t>
            </a:r>
          </a:p>
          <a:p>
            <a:pPr lvl="0"/>
            <a:r>
              <a:rPr b="1"/>
              <a:t>Schedule or trigger:</a:t>
            </a:r>
            <a:r>
              <a:rPr/>
              <a:t> Run hourly/daily or on events (files, DB changes, webhooks).</a:t>
            </a:r>
          </a:p>
          <a:p>
            <a:pPr lvl="0"/>
            <a:r>
              <a:rPr b="1"/>
              <a:t>ELT-first or ETL:</a:t>
            </a:r>
            <a:r>
              <a:rPr/>
              <a:t> Load-then-transform or transform-then-load using the same model.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to Delivery: Before vs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Whether building a microservice, integrating two applications, or creating a data pipeline — BiTool compresses the cycle from months to days.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Approach</a:t>
            </a:r>
          </a:p>
          <a:p>
            <a:pPr lvl="0"/>
            <a:r>
              <a:rPr/>
              <a:t>Gather requirements 2 weeks</a:t>
            </a:r>
          </a:p>
          <a:p>
            <a:pPr lvl="0"/>
            <a:r>
              <a:rPr/>
              <a:t>Architecture &amp; design 2 weeks</a:t>
            </a:r>
          </a:p>
          <a:p>
            <a:pPr lvl="0"/>
            <a:r>
              <a:rPr/>
              <a:t>Develop &amp; code 4-8 weeks</a:t>
            </a:r>
          </a:p>
          <a:p>
            <a:pPr lvl="0"/>
            <a:r>
              <a:rPr/>
              <a:t>Testing &amp; QA 2-4 weeks</a:t>
            </a:r>
          </a:p>
          <a:p>
            <a:pPr lvl="0"/>
            <a:r>
              <a:rPr/>
              <a:t>Deployment 1-2 weeks</a:t>
            </a:r>
          </a:p>
          <a:p>
            <a:pPr lvl="0"/>
            <a:r>
              <a:rPr/>
              <a:t>Compliance audit 2-4 weeks</a:t>
            </a:r>
          </a:p>
          <a:p>
            <a:pPr lvl="0" indent="0" marL="0">
              <a:buNone/>
            </a:pPr>
            <a:r>
              <a:rPr/>
              <a:t>13 – 22 weeks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BiTool Platform</a:t>
            </a:r>
          </a:p>
          <a:p>
            <a:pPr lvl="0"/>
            <a:r>
              <a:rPr/>
              <a:t>Gather requirements Same</a:t>
            </a:r>
          </a:p>
          <a:p>
            <a:pPr lvl="0"/>
            <a:r>
              <a:rPr/>
              <a:t>Design on canvas Hours</a:t>
            </a:r>
          </a:p>
          <a:p>
            <a:pPr lvl="0"/>
            <a:r>
              <a:rPr/>
              <a:t>Configure blocks 1-2 days</a:t>
            </a:r>
          </a:p>
          <a:p>
            <a:pPr lvl="0"/>
            <a:r>
              <a:rPr/>
              <a:t>Test in browser Hours</a:t>
            </a:r>
          </a:p>
          <a:p>
            <a:pPr lvl="0"/>
            <a:r>
              <a:rPr/>
              <a:t>Deploy 1 click</a:t>
            </a:r>
          </a:p>
          <a:p>
            <a:pPr lvl="0"/>
            <a:r>
              <a:rPr/>
              <a:t>Compliance = the model 0 days</a:t>
            </a:r>
          </a:p>
          <a:p>
            <a:pPr lvl="0" indent="0" marL="0">
              <a:buNone/>
            </a:pPr>
            <a:r>
              <a:rPr/>
              <a:t>3 – 5 days</a:t>
            </a:r>
          </a:p>
          <a:p>
            <a:pPr lvl="0" indent="0" marL="0">
              <a:buNone/>
            </a:pPr>
            <a:r>
              <a:rPr/>
              <a:t>The model eliminates translation between teams</a:t>
            </a:r>
          </a:p>
          <a:p>
            <a:pPr lvl="0" indent="0" marL="0">
              <a:buNone/>
            </a:pPr>
            <a:r>
              <a:rPr/>
              <a:t>No BRD-to-design translation. No design-to-code translation. No code-to-audit translation.</a:t>
            </a:r>
            <a:br/>
            <a:r>
              <a:rPr b="1"/>
              <a:t>One artifact</a:t>
            </a:r>
            <a:r>
              <a:rPr/>
              <a:t> flows from requirements to production.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Platform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Unified Platform for All Three Use Cases</a:t>
            </a:r>
          </a:p>
          <a:p>
            <a:pPr lvl="0" indent="0" marL="0">
              <a:buNone/>
            </a:pPr>
            <a:r>
              <a:rPr/>
              <a:t>One tool for microservices, EAI, and ELT/ETL. Teams learn one interface, share building blocks across projects. No more juggling MuleSoft + Informatica + custom code.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Visual = Auditable = Compliant</a:t>
            </a:r>
          </a:p>
          <a:p>
            <a:pPr lvl="0" indent="0" marL="0">
              <a:buNone/>
            </a:pPr>
            <a:r>
              <a:rPr/>
              <a:t>The model is human-readable by compliance officers, business analysts, and regulators. No developer needed to explain what the system does. Cuts audit cycles to zero.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OpenAPI / Spec-Driven Generation</a:t>
            </a:r>
          </a:p>
          <a:p>
            <a:pPr lvl="0" indent="0" marL="0">
              <a:buNone/>
            </a:pPr>
            <a:r>
              <a:rPr/>
              <a:t>Import an OpenAPI spec and auto-generate complete service models. Migrate existing APIs to the platform in minutes, not months. Bidirectional: export models as API specs.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Extensible Block Architecture</a:t>
            </a:r>
          </a:p>
          <a:p>
            <a:pPr lvl="0" indent="0" marL="0">
              <a:buNone/>
            </a:pPr>
            <a:r>
              <a:rPr/>
              <a:t>Add country-specific, industry-specific, or proprietary processing blocks without modifying the platform. Turkey payment rules, SWIFT messaging, MASAK screening — all pluggable.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Zero-Downtime Operations</a:t>
            </a:r>
          </a:p>
          <a:p>
            <a:pPr lvl="0" indent="0" marL="0">
              <a:buNone/>
            </a:pPr>
            <a:r>
              <a:rPr/>
              <a:t>Hot deploy, canary releases, instant rollback. Every model version is stored — roll back to any version in under a second. Kubernetes-native auto-scaling.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Investment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97%</a:t>
            </a:r>
          </a:p>
          <a:p>
            <a:pPr lvl="0" indent="0" marL="0">
              <a:buNone/>
            </a:pPr>
            <a:r>
              <a:rPr/>
              <a:t>Reduction in</a:t>
            </a:r>
            <a:br/>
            <a:r>
              <a:rPr/>
              <a:t>Delivery Time</a:t>
            </a:r>
          </a:p>
          <a:p>
            <a:pPr lvl="0" indent="0" marL="0">
              <a:buNone/>
            </a:pPr>
            <a:r>
              <a:rPr/>
              <a:t>5x</a:t>
            </a:r>
          </a:p>
          <a:p>
            <a:pPr lvl="0" indent="0" marL="0">
              <a:buNone/>
            </a:pPr>
            <a:r>
              <a:rPr/>
              <a:t>More Integrations</a:t>
            </a:r>
            <a:br/>
            <a:r>
              <a:rPr/>
              <a:t>per Quarter</a:t>
            </a:r>
          </a:p>
          <a:p>
            <a:pPr lvl="0" indent="0" marL="0">
              <a:buNone/>
            </a:pPr>
            <a:r>
              <a:rPr/>
              <a:t>0</a:t>
            </a:r>
          </a:p>
          <a:p>
            <a:pPr lvl="0" indent="0" marL="0">
              <a:buNone/>
            </a:pPr>
            <a:r>
              <a:rPr/>
              <a:t>Separate Audit</a:t>
            </a:r>
            <a:br/>
            <a:r>
              <a:rPr/>
              <a:t>Documentation</a:t>
            </a:r>
          </a:p>
          <a:p>
            <a:pPr lvl="0" indent="0" marL="0">
              <a:buNone/>
            </a:pPr>
            <a:r>
              <a:rPr/>
              <a:t>&lt;1s</a:t>
            </a:r>
          </a:p>
          <a:p>
            <a:pPr lvl="0" indent="0" marL="0">
              <a:buNone/>
            </a:pPr>
            <a:r>
              <a:rPr/>
              <a:t>Rollback to</a:t>
            </a:r>
            <a:br/>
            <a:r>
              <a:rPr/>
              <a:t>Any Version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Microservices</a:t>
            </a:r>
          </a:p>
          <a:p>
            <a:pPr lvl="0" indent="0" marL="0">
              <a:buNone/>
            </a:pPr>
            <a:r>
              <a:rPr/>
              <a:t>Build &amp; deploy APIs visually.</a:t>
            </a:r>
            <a:br/>
            <a:r>
              <a:rPr/>
              <a:t>OpenAPI import. Hot deploy.</a:t>
            </a:r>
            <a:br/>
            <a:r>
              <a:rPr/>
              <a:t>Production observability.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EAI</a:t>
            </a:r>
          </a:p>
          <a:p>
            <a:pPr lvl="0" indent="0" marL="0">
              <a:buNone/>
            </a:pPr>
            <a:r>
              <a:rPr/>
              <a:t>Connect any system.</a:t>
            </a:r>
            <a:br/>
            <a:r>
              <a:rPr/>
              <a:t>Transform &amp; route messages.</a:t>
            </a:r>
            <a:br/>
            <a:r>
              <a:rPr/>
              <a:t>Replace middleware sprawl.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ELT / ETL</a:t>
            </a:r>
          </a:p>
          <a:p>
            <a:pPr lvl="0" indent="0" marL="0">
              <a:buNone/>
            </a:pPr>
            <a:r>
              <a:rPr/>
              <a:t>Visual data pipelines.</a:t>
            </a:r>
            <a:br/>
            <a:r>
              <a:rPr/>
              <a:t>Join, filter, aggregate, load.</a:t>
            </a:r>
            <a:br/>
            <a:r>
              <a:rPr/>
              <a:t>Scheduled or event-driven.</a:t>
            </a:r>
          </a:p>
          <a:p>
            <a:pPr lvl="0" indent="0" marL="0">
              <a:buNone/>
            </a:pPr>
            <a:r>
              <a:rPr/>
              <a:t>One Model. Three Capabilities. Zero Translation.</a:t>
            </a:r>
          </a:p>
          <a:p>
            <a:pPr lvl="0" indent="0" marL="0">
              <a:buNone/>
            </a:pPr>
            <a:r>
              <a:rPr/>
              <a:t>Design = Code = Documentation = Audit Trail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2026-02-26T05:06:45Z</dcterms:created>
  <dcterms:modified xsi:type="dcterms:W3CDTF">2026-02-26T05:06:45Z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