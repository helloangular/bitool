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5" Type="http://schemas.openxmlformats.org/officeDocument/2006/relationships/viewProps" Target="viewProps.xml" /><Relationship Id="rId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7" Type="http://schemas.openxmlformats.org/officeDocument/2006/relationships/tableStyles" Target="tableStyles.xml" /><Relationship Id="rId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BiTool — Enterprise Integration &amp; Microservices Platform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BiTool</a:t>
            </a:r>
          </a:p>
          <a:p>
            <a:pPr lvl="0" indent="0" marL="0">
              <a:buNone/>
            </a:pPr>
            <a:r>
              <a:rPr/>
              <a:t>Enterprise Integration &amp; Microservices Platform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Visual, AI-driven no-code platform for building enterprise integrations,</a:t>
            </a:r>
            <a:br/>
            <a:r>
              <a:rPr/>
              <a:t>microservices, and data pipelines — from BRD to production.</a:t>
            </a:r>
          </a:p>
          <a:p>
            <a:pPr lvl="0" indent="0" marL="0">
              <a:buNone/>
            </a:pPr>
            <a:r>
              <a:rPr/>
              <a:t>Confidential — Executive Briefing</a:t>
            </a:r>
          </a:p>
          <a:p>
            <a:pPr lvl="0" indent="0" marL="0">
              <a:buNone/>
            </a:pPr>
            <a:r>
              <a:rPr/>
              <a:t>1 / 11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The Challenge</a:t>
            </a:r>
          </a:p>
          <a:p>
            <a:pPr lvl="0" indent="0" marL="0">
              <a:buNone/>
            </a:pPr>
            <a:r>
              <a:rPr/>
              <a:t>Enterprise integration projects are slow, expensive, and fragile. Whether building microservices, connecting applications, or transforming data — teams spend more time on handoffs than on building.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60%</a:t>
            </a:r>
          </a:p>
          <a:p>
            <a:pPr lvl="0" indent="0" marL="0">
              <a:buNone/>
            </a:pPr>
            <a:r>
              <a:rPr/>
              <a:t>Time Spent</a:t>
            </a:r>
            <a:br/>
            <a:r>
              <a:rPr/>
              <a:t>on Handoffs</a:t>
            </a:r>
          </a:p>
          <a:p>
            <a:pPr lvl="0" indent="0" marL="0">
              <a:buNone/>
            </a:pPr>
            <a:r>
              <a:rPr/>
              <a:t>3x</a:t>
            </a:r>
          </a:p>
          <a:p>
            <a:pPr lvl="0" indent="0" marL="0">
              <a:buNone/>
            </a:pPr>
            <a:r>
              <a:rPr/>
              <a:t>Rework Cycles</a:t>
            </a:r>
            <a:br/>
            <a:r>
              <a:rPr/>
              <a:t>per Flow</a:t>
            </a:r>
          </a:p>
          <a:p>
            <a:pPr lvl="0" indent="0" marL="0">
              <a:buNone/>
            </a:pPr>
            <a:r>
              <a:rPr/>
              <a:t>$2M+</a:t>
            </a:r>
          </a:p>
          <a:p>
            <a:pPr lvl="0" indent="0" marL="0">
              <a:buNone/>
            </a:pPr>
            <a:r>
              <a:rPr/>
              <a:t>Avg Cost per</a:t>
            </a:r>
            <a:br/>
            <a:r>
              <a:rPr/>
              <a:t>Integration Project</a:t>
            </a:r>
          </a:p>
          <a:p>
            <a:pPr lvl="0" indent="0" marL="0">
              <a:buNone/>
            </a:pPr>
            <a:r>
              <a:rPr/>
              <a:t>0</a:t>
            </a:r>
          </a:p>
          <a:p>
            <a:pPr lvl="0" indent="0" marL="0">
              <a:buNone/>
            </a:pPr>
            <a:r>
              <a:rPr/>
              <a:t>Visibility for</a:t>
            </a:r>
            <a:br/>
            <a:r>
              <a:rPr/>
              <a:t>Compliance</a:t>
            </a:r>
          </a:p>
          <a:p>
            <a:pPr lvl="0" indent="0" marL="0">
              <a:buNone/>
            </a:pPr>
            <a:r>
              <a:rPr/>
              <a:t>2 / 11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BiTool: One Platform, Three Capabilities</a:t>
            </a:r>
          </a:p>
          <a:p>
            <a:pPr lvl="0" indent="0" marL="0">
              <a:buNone/>
            </a:pPr>
            <a:r>
              <a:rPr/>
              <a:t>A visual, no-code platform that eliminates the gap between what business wants and what engineering delivers.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Microservices</a:t>
            </a:r>
          </a:p>
          <a:p>
            <a:pPr lvl="0" indent="0" marL="0">
              <a:buNone/>
            </a:pPr>
            <a:r>
              <a:rPr/>
              <a:t>Builder + Orchestrator</a:t>
            </a:r>
          </a:p>
          <a:p>
            <a:pPr lvl="0"/>
            <a:r>
              <a:rPr/>
              <a:t>Design APIs visually as flow models</a:t>
            </a:r>
          </a:p>
          <a:p>
            <a:pPr lvl="0"/>
            <a:r>
              <a:rPr/>
              <a:t>Auto-generate from OpenAPI specs</a:t>
            </a:r>
          </a:p>
          <a:p>
            <a:pPr lvl="0"/>
            <a:r>
              <a:rPr/>
              <a:t>Hot deploy to production</a:t>
            </a:r>
          </a:p>
          <a:p>
            <a:pPr lvl="0"/>
            <a:r>
              <a:rPr/>
              <a:t>Canary releases, instant rollback</a:t>
            </a:r>
          </a:p>
          <a:p>
            <a:pPr lvl="0"/>
            <a:r>
              <a:rPr/>
              <a:t>Built-in auth, validation, caching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EAI</a:t>
            </a:r>
          </a:p>
          <a:p>
            <a:pPr lvl="0" indent="0" marL="0">
              <a:buNone/>
            </a:pPr>
            <a:r>
              <a:rPr/>
              <a:t>Enterprise Application Integration</a:t>
            </a:r>
          </a:p>
          <a:p>
            <a:pPr lvl="0"/>
            <a:r>
              <a:rPr/>
              <a:t>Connect any system to any system</a:t>
            </a:r>
          </a:p>
          <a:p>
            <a:pPr lvl="0"/>
            <a:r>
              <a:rPr/>
              <a:t>REST, SOAP, JDBC, MQ, File</a:t>
            </a:r>
          </a:p>
          <a:p>
            <a:pPr lvl="0"/>
            <a:r>
              <a:rPr/>
              <a:t>Message transformation &amp; routing</a:t>
            </a:r>
          </a:p>
          <a:p>
            <a:pPr lvl="0"/>
            <a:r>
              <a:rPr/>
              <a:t>Event-driven or request-driven</a:t>
            </a:r>
          </a:p>
          <a:p>
            <a:pPr lvl="0"/>
            <a:r>
              <a:rPr/>
              <a:t>Pre-built connectors library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ELT / ETL</a:t>
            </a:r>
          </a:p>
          <a:p>
            <a:pPr lvl="0" indent="0" marL="0">
              <a:buNone/>
            </a:pPr>
            <a:r>
              <a:rPr/>
              <a:t>Data Transformation</a:t>
            </a:r>
          </a:p>
          <a:p>
            <a:pPr lvl="0"/>
            <a:r>
              <a:rPr/>
              <a:t>Extract from any source</a:t>
            </a:r>
          </a:p>
          <a:p>
            <a:pPr lvl="0"/>
            <a:r>
              <a:rPr/>
              <a:t>Visual transformation design</a:t>
            </a:r>
          </a:p>
          <a:p>
            <a:pPr lvl="0"/>
            <a:r>
              <a:rPr/>
              <a:t>Load to any destination</a:t>
            </a:r>
          </a:p>
          <a:p>
            <a:pPr lvl="0"/>
            <a:r>
              <a:rPr/>
              <a:t>Scheduled or event-triggered</a:t>
            </a:r>
          </a:p>
          <a:p>
            <a:pPr lvl="0"/>
            <a:r>
              <a:rPr/>
              <a:t>Join, filter, aggregate, enrich</a:t>
            </a:r>
          </a:p>
          <a:p>
            <a:pPr lvl="0" indent="0" marL="0">
              <a:buNone/>
            </a:pPr>
            <a:r>
              <a:rPr/>
              <a:t>One visual model serves as Design, Code, Documentation, and Audit Trail</a:t>
            </a:r>
          </a:p>
          <a:p>
            <a:pPr lvl="0" indent="0" marL="0">
              <a:buNone/>
            </a:pPr>
            <a:r>
              <a:rPr/>
              <a:t>What you see on screen IS what runs in production. No translation steps.</a:t>
            </a:r>
          </a:p>
          <a:p>
            <a:pPr lvl="0" indent="0" marL="0">
              <a:buNone/>
            </a:pPr>
            <a:r>
              <a:rPr/>
              <a:t>3 / 11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How It Works</a:t>
            </a:r>
          </a:p>
          <a:p>
            <a:pPr lvl="0" indent="0" marL="0">
              <a:buNone/>
            </a:pPr>
            <a:r>
              <a:rPr/>
              <a:t>Users visually compose integration flows by connecting processing blocks on a canvas. The platform executes these flows as production services.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4 / 11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AI-Accelerated: BRD to Production</a:t>
            </a:r>
          </a:p>
          <a:p>
            <a:pPr lvl="0" indent="0" marL="0">
              <a:buNone/>
            </a:pPr>
            <a:r>
              <a:rPr/>
              <a:t>AI generates each artifact deterministically. Humans review and approve at every gate. The result is auditable, repeatable, and fast.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5 / 11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Microservices: Build &amp; Deploy APIs Visually</a:t>
            </a:r>
          </a:p>
          <a:p>
            <a:pPr lvl="0" indent="0" marL="0">
              <a:buNone/>
            </a:pPr>
            <a:r>
              <a:rPr/>
              <a:t>Design complete REST APIs as visual models. Each model becomes a live HTTP microservice with built-in security, validation, and data access.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⚙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Auto-generate from OpenAPI</a:t>
            </a:r>
          </a:p>
          <a:p>
            <a:pPr lvl="0" indent="0" marL="0">
              <a:buNone/>
            </a:pPr>
            <a:r>
              <a:rPr/>
              <a:t>Import an existing OpenAPI/Swagger spec and automatically generate the complete microservice model. 50 endpoints in under a minute.</a:t>
            </a:r>
          </a:p>
          <a:p>
            <a:pPr lvl="0" indent="0" marL="0">
              <a:buNone/>
            </a:pPr>
            <a:r>
              <a:rPr/>
              <a:t>⚡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Production-Ready Runtime</a:t>
            </a:r>
          </a:p>
          <a:p>
            <a:pPr lvl="0" indent="0" marL="0">
              <a:buNone/>
            </a:pPr>
            <a:r>
              <a:rPr/>
              <a:t>Kubernetes-native deployment. Service mesh, circuit breakers, rate limiting, distributed tracing — all built in.</a:t>
            </a:r>
          </a:p>
          <a:p>
            <a:pPr lvl="0" indent="0" marL="0">
              <a:buNone/>
            </a:pPr>
            <a:r>
              <a:rPr/>
              <a:t>★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Country-Specific Extensions</a:t>
            </a:r>
          </a:p>
          <a:p>
            <a:pPr lvl="0" indent="0" marL="0">
              <a:buNone/>
            </a:pPr>
            <a:r>
              <a:rPr/>
              <a:t>Add market-specific processing blocks (IBAN validation, tax calculation, regulatory screening) without modifying the platform.</a:t>
            </a:r>
          </a:p>
          <a:p>
            <a:pPr lvl="0" indent="0" marL="0">
              <a:buNone/>
            </a:pPr>
            <a:r>
              <a:rPr/>
              <a:t>6 / 11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EAI: Connect Any System to Any System</a:t>
            </a:r>
          </a:p>
          <a:p>
            <a:pPr lvl="0" indent="0" marL="0">
              <a:buNone/>
            </a:pPr>
            <a:r>
              <a:rPr/>
              <a:t>Enterprise Application Integration as visual models. Connect databases, APIs, message queues, file systems, and legacy applications through a unified design canvas.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⇄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Any-to-Any Connectivity</a:t>
            </a:r>
          </a:p>
          <a:p>
            <a:pPr lvl="0" indent="0" marL="0">
              <a:buNone/>
            </a:pPr>
            <a:r>
              <a:rPr/>
              <a:t>REST, SOAP, JDBC, Kafka, RabbitMQ, SFTP, flat files. Extensible connector model for proprietary protocols.</a:t>
            </a:r>
          </a:p>
          <a:p>
            <a:pPr lvl="0" indent="0" marL="0">
              <a:buNone/>
            </a:pPr>
            <a:r>
              <a:rPr/>
              <a:t>↺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Message-Level Transformation</a:t>
            </a:r>
          </a:p>
          <a:p>
            <a:pPr lvl="0" indent="0" marL="0">
              <a:buNone/>
            </a:pPr>
            <a:r>
              <a:rPr/>
              <a:t>Visual field mapping, format conversion (JSON/XML/CSV/ISO 20022), data enrichment from multiple sources.</a:t>
            </a:r>
          </a:p>
          <a:p>
            <a:pPr lvl="0" indent="0" marL="0">
              <a:buNone/>
            </a:pPr>
            <a:r>
              <a:rPr/>
              <a:t>⚖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Content-Based Routing</a:t>
            </a:r>
          </a:p>
          <a:p>
            <a:pPr lvl="0" indent="0" marL="0">
              <a:buNone/>
            </a:pPr>
            <a:r>
              <a:rPr/>
              <a:t>Route messages based on content, headers, or business rules. Split, aggregate, and multicast patterns built in.</a:t>
            </a:r>
          </a:p>
          <a:p>
            <a:pPr lvl="0" indent="0" marL="0">
              <a:buNone/>
            </a:pPr>
            <a:r>
              <a:rPr/>
              <a:t>7 / 11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ELT / ETL: Visual Data Transformation</a:t>
            </a:r>
          </a:p>
          <a:p>
            <a:pPr lvl="0" indent="0" marL="0">
              <a:buNone/>
            </a:pPr>
            <a:r>
              <a:rPr/>
              <a:t>Design data pipelines visually — extract from any source, transform with joins, filters, and aggregations, load to any destination. Schedule or trigger on events.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Visual Transformation Design</a:t>
            </a:r>
          </a:p>
          <a:p>
            <a:pPr lvl="0" indent="0" marL="0">
              <a:buNone/>
            </a:pPr>
            <a:r>
              <a:rPr/>
              <a:t>Join multiple sources, filter rows, aggregate data, rename columns, apply functions — all through drag-and-drop. No SQL or code required.</a:t>
            </a:r>
          </a:p>
          <a:p>
            <a:pPr lvl="0" indent="0" marL="0">
              <a:buNone/>
            </a:pPr>
            <a:r>
              <a:rPr/>
              <a:t>↻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Scheduled or Event-Driven</a:t>
            </a:r>
          </a:p>
          <a:p>
            <a:pPr lvl="0" indent="0" marL="0">
              <a:buNone/>
            </a:pPr>
            <a:r>
              <a:rPr/>
              <a:t>Run pipelines on a schedule (hourly, daily) or trigger on events (new file, database change, API webhook).</a:t>
            </a:r>
          </a:p>
          <a:p>
            <a:pPr lvl="0" indent="0" marL="0">
              <a:buNone/>
            </a:pPr>
            <a:r>
              <a:rPr/>
              <a:t>▣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ELT-First Architecture</a:t>
            </a:r>
          </a:p>
          <a:p>
            <a:pPr lvl="0" indent="0" marL="0">
              <a:buNone/>
            </a:pPr>
            <a:r>
              <a:rPr/>
              <a:t>Load raw data first, then transform in-database for performance. Or traditional ETL — transform before loading. Same visual interface for both.</a:t>
            </a:r>
          </a:p>
          <a:p>
            <a:pPr lvl="0" indent="0" marL="0">
              <a:buNone/>
            </a:pPr>
            <a:r>
              <a:rPr/>
              <a:t>8 / 11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Time to Delivery: Before vs After</a:t>
            </a:r>
          </a:p>
          <a:p>
            <a:pPr lvl="0" indent="0" marL="0">
              <a:buNone/>
            </a:pPr>
            <a:r>
              <a:rPr/>
              <a:t>Whether building a microservice, integrating two applications, or creating a data pipeline — BiTool compresses the cycle from months to days.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Traditional Approach</a:t>
            </a:r>
          </a:p>
          <a:p>
            <a:pPr lvl="0"/>
            <a:r>
              <a:rPr/>
              <a:t>Gather requirements 2 weeks</a:t>
            </a:r>
          </a:p>
          <a:p>
            <a:pPr lvl="0"/>
            <a:r>
              <a:rPr/>
              <a:t>Architecture &amp; design 2 weeks</a:t>
            </a:r>
          </a:p>
          <a:p>
            <a:pPr lvl="0"/>
            <a:r>
              <a:rPr/>
              <a:t>Develop &amp; code 4-8 weeks</a:t>
            </a:r>
          </a:p>
          <a:p>
            <a:pPr lvl="0"/>
            <a:r>
              <a:rPr/>
              <a:t>Testing &amp; QA 2-4 weeks</a:t>
            </a:r>
          </a:p>
          <a:p>
            <a:pPr lvl="0"/>
            <a:r>
              <a:rPr/>
              <a:t>Deployment 1-2 weeks</a:t>
            </a:r>
          </a:p>
          <a:p>
            <a:pPr lvl="0"/>
            <a:r>
              <a:rPr/>
              <a:t>Compliance audit 2-4 weeks</a:t>
            </a:r>
          </a:p>
          <a:p>
            <a:pPr lvl="0" indent="0" marL="0">
              <a:buNone/>
            </a:pPr>
            <a:r>
              <a:rPr/>
              <a:t>13 – 22 weeks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BiTool Platform</a:t>
            </a:r>
          </a:p>
          <a:p>
            <a:pPr lvl="0"/>
            <a:r>
              <a:rPr/>
              <a:t>Gather requirements Same</a:t>
            </a:r>
          </a:p>
          <a:p>
            <a:pPr lvl="0"/>
            <a:r>
              <a:rPr/>
              <a:t>Design on canvas Hours</a:t>
            </a:r>
          </a:p>
          <a:p>
            <a:pPr lvl="0"/>
            <a:r>
              <a:rPr/>
              <a:t>Configure blocks 1-2 days</a:t>
            </a:r>
          </a:p>
          <a:p>
            <a:pPr lvl="0"/>
            <a:r>
              <a:rPr/>
              <a:t>Test in browser Hours</a:t>
            </a:r>
          </a:p>
          <a:p>
            <a:pPr lvl="0"/>
            <a:r>
              <a:rPr/>
              <a:t>Deploy 1 click</a:t>
            </a:r>
          </a:p>
          <a:p>
            <a:pPr lvl="0"/>
            <a:r>
              <a:rPr/>
              <a:t>Compliance = the model 0 days</a:t>
            </a:r>
          </a:p>
          <a:p>
            <a:pPr lvl="0" indent="0" marL="0">
              <a:buNone/>
            </a:pPr>
            <a:r>
              <a:rPr/>
              <a:t>3 – 5 days</a:t>
            </a:r>
          </a:p>
          <a:p>
            <a:pPr lvl="0" indent="0" marL="0">
              <a:buNone/>
            </a:pPr>
            <a:r>
              <a:rPr/>
              <a:t>The model eliminates translation between teams</a:t>
            </a:r>
          </a:p>
          <a:p>
            <a:pPr lvl="0" indent="0" marL="0">
              <a:buNone/>
            </a:pPr>
            <a:r>
              <a:rPr/>
              <a:t>No BRD-to-design translation. No design-to-code translation. No code-to-audit translation.</a:t>
            </a:r>
            <a:br/>
            <a:r>
              <a:rPr b="1"/>
              <a:t>One artifact</a:t>
            </a:r>
            <a:r>
              <a:rPr/>
              <a:t> flows from requirements to production.</a:t>
            </a:r>
          </a:p>
          <a:p>
            <a:pPr lvl="0" indent="0" marL="0">
              <a:buNone/>
            </a:pPr>
            <a:r>
              <a:rPr/>
              <a:t>9 / 11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Platform Differentiators</a:t>
            </a:r>
          </a:p>
          <a:p>
            <a:pPr lvl="0" indent="0" marL="0">
              <a:buNone/>
            </a:pPr>
            <a:r>
              <a:rPr/>
              <a:t>↺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Unified Platform for All Three Use Cases</a:t>
            </a:r>
          </a:p>
          <a:p>
            <a:pPr lvl="0" indent="0" marL="0">
              <a:buNone/>
            </a:pPr>
            <a:r>
              <a:rPr/>
              <a:t>One tool for microservices, EAI, and ELT/ETL. Teams learn one interface, share building blocks across projects. No more juggling MuleSoft + Informatica + custom code.</a:t>
            </a:r>
          </a:p>
          <a:p>
            <a:pPr lvl="0" indent="0" marL="0">
              <a:buNone/>
            </a:pPr>
            <a:r>
              <a:rPr/>
              <a:t>👁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Visual = Auditable = Compliant</a:t>
            </a:r>
          </a:p>
          <a:p>
            <a:pPr lvl="0" indent="0" marL="0">
              <a:buNone/>
            </a:pPr>
            <a:r>
              <a:rPr/>
              <a:t>The model is human-readable by compliance officers, business analysts, and regulators. No developer needed to explain what the system does. Cuts audit cycles to zero.</a:t>
            </a:r>
          </a:p>
          <a:p>
            <a:pPr lvl="0" indent="0" marL="0">
              <a:buNone/>
            </a:pPr>
            <a:r>
              <a:rPr/>
              <a:t>⚡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OpenAPI / Spec-Driven Generation</a:t>
            </a:r>
          </a:p>
          <a:p>
            <a:pPr lvl="0" indent="0" marL="0">
              <a:buNone/>
            </a:pPr>
            <a:r>
              <a:rPr/>
              <a:t>Import an OpenAPI spec and auto-generate complete service models. Migrate existing APIs to the platform in minutes, not months. Bidirectional: export models as API specs.</a:t>
            </a:r>
          </a:p>
          <a:p>
            <a:pPr lvl="0" indent="0" marL="0">
              <a:buNone/>
            </a:pPr>
            <a:r>
              <a:rPr/>
              <a:t>⚙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Extensible Block Architecture</a:t>
            </a:r>
          </a:p>
          <a:p>
            <a:pPr lvl="0" indent="0" marL="0">
              <a:buNone/>
            </a:pPr>
            <a:r>
              <a:rPr/>
              <a:t>Add country-specific, industry-specific, or proprietary processing blocks without modifying the platform. Turkey payment rules, SWIFT messaging, MASAK screening — all pluggable.</a:t>
            </a:r>
          </a:p>
          <a:p>
            <a:pPr lvl="0" indent="0" marL="0">
              <a:buNone/>
            </a:pPr>
            <a:r>
              <a:rPr/>
              <a:t>♺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Zero-Downtime Operations</a:t>
            </a:r>
          </a:p>
          <a:p>
            <a:pPr lvl="0" indent="0" marL="0">
              <a:buNone/>
            </a:pPr>
            <a:r>
              <a:rPr/>
              <a:t>Hot deploy, canary releases, instant rollback. Every model version is stored — roll back to any version in under a second. Kubernetes-native auto-scaling.</a:t>
            </a:r>
          </a:p>
          <a:p>
            <a:pPr lvl="0" indent="0" marL="0">
              <a:buNone/>
            </a:pPr>
            <a:r>
              <a:rPr/>
              <a:t>10 / 11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Investment Impact</a:t>
            </a:r>
          </a:p>
          <a:p>
            <a:pPr lvl="0" indent="0" marL="0">
              <a:buNone/>
            </a:pPr>
            <a:r>
              <a:rPr/>
              <a:t>97%</a:t>
            </a:r>
          </a:p>
          <a:p>
            <a:pPr lvl="0" indent="0" marL="0">
              <a:buNone/>
            </a:pPr>
            <a:r>
              <a:rPr/>
              <a:t>Reduction in</a:t>
            </a:r>
            <a:br/>
            <a:r>
              <a:rPr/>
              <a:t>Delivery Time</a:t>
            </a:r>
          </a:p>
          <a:p>
            <a:pPr lvl="0" indent="0" marL="0">
              <a:buNone/>
            </a:pPr>
            <a:r>
              <a:rPr/>
              <a:t>5x</a:t>
            </a:r>
          </a:p>
          <a:p>
            <a:pPr lvl="0" indent="0" marL="0">
              <a:buNone/>
            </a:pPr>
            <a:r>
              <a:rPr/>
              <a:t>More Integrations</a:t>
            </a:r>
            <a:br/>
            <a:r>
              <a:rPr/>
              <a:t>per Quarter</a:t>
            </a:r>
          </a:p>
          <a:p>
            <a:pPr lvl="0" indent="0" marL="0">
              <a:buNone/>
            </a:pPr>
            <a:r>
              <a:rPr/>
              <a:t>0</a:t>
            </a:r>
          </a:p>
          <a:p>
            <a:pPr lvl="0" indent="0" marL="0">
              <a:buNone/>
            </a:pPr>
            <a:r>
              <a:rPr/>
              <a:t>Separate Audit</a:t>
            </a:r>
            <a:br/>
            <a:r>
              <a:rPr/>
              <a:t>Documentation</a:t>
            </a:r>
          </a:p>
          <a:p>
            <a:pPr lvl="0" indent="0" marL="0">
              <a:buNone/>
            </a:pPr>
            <a:r>
              <a:rPr/>
              <a:t>&lt;1s</a:t>
            </a:r>
          </a:p>
          <a:p>
            <a:pPr lvl="0" indent="0" marL="0">
              <a:buNone/>
            </a:pPr>
            <a:r>
              <a:rPr/>
              <a:t>Rollback to</a:t>
            </a:r>
            <a:br/>
            <a:r>
              <a:rPr/>
              <a:t>Any Version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Microservices</a:t>
            </a:r>
          </a:p>
          <a:p>
            <a:pPr lvl="0" indent="0" marL="0">
              <a:buNone/>
            </a:pPr>
            <a:r>
              <a:rPr/>
              <a:t>Build &amp; deploy APIs visually.</a:t>
            </a:r>
            <a:br/>
            <a:r>
              <a:rPr/>
              <a:t>OpenAPI import. Hot deploy.</a:t>
            </a:r>
            <a:br/>
            <a:r>
              <a:rPr/>
              <a:t>Production observability.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EAI</a:t>
            </a:r>
          </a:p>
          <a:p>
            <a:pPr lvl="0" indent="0" marL="0">
              <a:buNone/>
            </a:pPr>
            <a:r>
              <a:rPr/>
              <a:t>Connect any system.</a:t>
            </a:r>
            <a:br/>
            <a:r>
              <a:rPr/>
              <a:t>Transform &amp; route messages.</a:t>
            </a:r>
            <a:br/>
            <a:r>
              <a:rPr/>
              <a:t>Replace middleware sprawl.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ELT / ETL</a:t>
            </a:r>
          </a:p>
          <a:p>
            <a:pPr lvl="0" indent="0" marL="0">
              <a:buNone/>
            </a:pPr>
            <a:r>
              <a:rPr/>
              <a:t>Visual data pipelines.</a:t>
            </a:r>
            <a:br/>
            <a:r>
              <a:rPr/>
              <a:t>Join, filter, aggregate, load.</a:t>
            </a:r>
            <a:br/>
            <a:r>
              <a:rPr/>
              <a:t>Scheduled or event-driven.</a:t>
            </a:r>
          </a:p>
          <a:p>
            <a:pPr lvl="0" indent="0" marL="0">
              <a:buNone/>
            </a:pPr>
            <a:r>
              <a:rPr/>
              <a:t>One Model. Three Capabilities. Zero Translation.</a:t>
            </a:r>
          </a:p>
          <a:p>
            <a:pPr lvl="0" indent="0" marL="0">
              <a:buNone/>
            </a:pPr>
            <a:r>
              <a:rPr/>
              <a:t>Design = Code = Documentation = Audit Trail</a:t>
            </a:r>
          </a:p>
          <a:p>
            <a:pPr lvl="0" indent="0" marL="0">
              <a:buNone/>
            </a:pPr>
            <a:r>
              <a:rPr/>
              <a:t>11 / 11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BiTool — Enterprise Integration &amp; Microservices Platform</dc:title>
  <dc:creator/>
  <cp:keywords/>
  <dcterms:created xsi:type="dcterms:W3CDTF">2026-02-26T04:47:44Z</dcterms:created>
  <dcterms:modified xsi:type="dcterms:W3CDTF">2026-02-26T04:47:44Z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iewport">
    <vt:lpwstr>width=device-width, initial-scale=1.0</vt:lpwstr>
  </property>
</Properties>
</file>